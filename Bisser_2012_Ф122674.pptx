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3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6_0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7" r:id="rId4"/>
    <p:sldId id="258" r:id="rId5"/>
    <p:sldId id="259" r:id="rId6"/>
    <p:sldId id="260" r:id="rId7"/>
    <p:sldId id="268" r:id="rId8"/>
    <p:sldId id="261" r:id="rId9"/>
    <p:sldId id="262" r:id="rId10"/>
    <p:sldId id="263" r:id="rId11"/>
    <p:sldId id="264" r:id="rId12"/>
    <p:sldId id="265" r:id="rId13"/>
    <p:sldId id="266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BE7665-C8FA-A9ED-D6CC-56CCEF74EFE0}" name="Nikoleta Angelova" initials="NA" userId="S::f122674@students.nbu.bg::c9a5358f-7fff-4822-a58d-6c67e67649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382B"/>
    <a:srgbClr val="C138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CC42F-140E-F540-87AA-A4DD645AC56C}" v="49" dt="2026-05-17T16:20:07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38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84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0619F3-0D2C-294D-9D4F-F974126AD8EE}" authorId="{71BE7665-C8FA-A9ED-D6CC-56CCEF74EFE0}" created="2026-05-16T14:15:45.16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19" creationId="{00000000-0000-0000-0000-000000000000}"/>
      <ac:txMk cp="27" len="2">
        <ac:context len="101" hash="904076330"/>
      </ac:txMk>
    </ac:txMkLst>
    <p188:pos x="2329873" y="368531"/>
    <p188:txBody>
      <a:bodyPr/>
      <a:lstStyle/>
      <a:p>
        <a:r>
          <a:rPr lang="en-US"/>
          <a:t>МО - министерството на отбраната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9CBC20-8731-D448-9868-5D388A9404D6}" authorId="{71BE7665-C8FA-A9ED-D6CC-56CCEF74EFE0}" created="2026-05-17T16:24:19.561">
    <pc:sldMkLst xmlns:pc="http://schemas.microsoft.com/office/powerpoint/2013/main/command">
      <pc:docMk/>
      <pc:sldMk cId="0" sldId="262"/>
    </pc:sldMkLst>
    <p188:txBody>
      <a:bodyPr/>
      <a:lstStyle/>
      <a:p>
        <a:r>
          <a:rPr lang="en-US"/>
          <a:t>По време на бедствието на 6 февруари 2012 г. е взето решение да се изпусне вода от язовир „Тракиец" контролирано, за да се предотврати препълването му и евентуално наводняване на Хасково.
Тази вода се влива надолу по течението и допълнително усилва вълната, която вече залива с. Бисер.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40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A3EB-5620-1D1B-3568-13B2E3790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AA5B3-CC86-B96E-3690-8BFC0B92B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68D47-E67A-D038-D542-B9DD7EE11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89802-11ED-8F4F-D0CE-6B170A0880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93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15844-0B8A-5773-E06F-0D203889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F7FA3-CF23-F352-A34E-2F668954A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F9CA6-0C12-A0FE-746C-1974ACE28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EDBF9-4FF3-2780-3AED-A53279FC4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81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4BBE-3AD5-29E9-C66B-5166731D7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16AE0-A252-4C7F-E945-7B973DEDE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518C55-711B-0CE9-043A-072D27615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E1414-749E-2052-2036-BB28279EB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06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ADECD-1471-84A0-572B-3842A062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B8F3D-E0CE-F60D-54B8-7B8E393FD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16430-35C1-B4EB-FBD3-97EE4FE50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DE7F9-BA80-23FD-05A0-2F547F629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7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file:///%5B6%5D%20Dir.bg%20&#8212;%20%22&#1055;&#1086;&#1075;&#1083;&#1077;&#1076;%20&#1086;&#1090;%20&#1041;&#1080;&#1089;&#1077;&#1088;/%2010%20&#1075;&#1086;&#1076;&#1080;&#1085;&#1080;%20&#1089;&#1083;&#1077;&#1076;%20&#1087;&#1086;&#1090;&#1086;&#1087;&#1072;%22.%20dnes.dir.bg,%202022" TargetMode="External"/><Relationship Id="rId3" Type="http://schemas.openxmlformats.org/officeDocument/2006/relationships/hyperlink" Target="https://bg.wikipedia.org/wiki/%D0%9D%D0%B0%D0%B2%D0%BE%D0%B4%D0%BD%D0%B5%D0%BD%D0%B8%D0%B5_%D0%BD%D0%B0_%D1%81%D0%B5%D0%BB%D0%BE_%D0%91%D0%B8%D1%81%D0%B5%D1%80" TargetMode="External"/><Relationship Id="rId7" Type="http://schemas.openxmlformats.org/officeDocument/2006/relationships/hyperlink" Target="https://armymedia.bg/2023/02/06/11-%D0%B3%D0%BE%D0%B4%D0%B8%D0%BD%D0%B8-%D0%BE%D1%82-%D0%BE%D0%BF%D1%83%D1%81%D1%82%D0%BE%D1%88%D0%B8%D1%82%D0%B5%D0%BB%D0%BD%D0%BE%D1%82%D0%BE-%D0%BD%D0%B0%D0%B2%D0%BE%D0%B4%D0%BD%D0%B5%D0%BD%D0%B8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egabg.com/hot/category-bulgaria/tragichnite-navodneniya-biser-i-car-koloyan-si-ostanaha-nenakazani" TargetMode="External"/><Relationship Id="rId5" Type="http://schemas.openxmlformats.org/officeDocument/2006/relationships/hyperlink" Target="https://btvnovinite.bg/predavania/tazi-sabota-i-nedelia/10-g-sled-potopa-v-s-biser-ima-li-vazmezdie-za-razrushenite-sadbi.html" TargetMode="External"/><Relationship Id="rId4" Type="http://schemas.openxmlformats.org/officeDocument/2006/relationships/hyperlink" Target="https://bntnews.bg/news/9-godini-sled-navodnenieto-v-selo-biser-tragediya-za-koyato-oshte-nyama-vinoven-1093555news.html" TargetMode="External"/><Relationship Id="rId9" Type="http://schemas.openxmlformats.org/officeDocument/2006/relationships/hyperlink" Target="https://www.harmanli.bg/bg/novini/selo-biser-otbelyaza-11-godini-ot-opustoshitelnoto-navodnenie-s-panihida-v-pamet-na-zaginalite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ntnews.bg/f/news/b/1295/02c72746d6f9eb498cfa4d71b956947f.jpeg" TargetMode="External"/><Relationship Id="rId7" Type="http://schemas.openxmlformats.org/officeDocument/2006/relationships/hyperlink" Target="https://nws2.bnt.bg/p/b/i/biser-323978-810x0.jp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dn.btv.bg/media/images/1200x630/Feb2022/2112684307.jpg" TargetMode="External"/><Relationship Id="rId5" Type="http://schemas.openxmlformats.org/officeDocument/2006/relationships/hyperlink" Target="https://selo.bg/images/2/e9269c80b220032e83524b356ad17e3c/navodnenie-slievn-1057.jpg" TargetMode="External"/><Relationship Id="rId4" Type="http://schemas.openxmlformats.org/officeDocument/2006/relationships/hyperlink" Target="https://bntnews.bg/f/news/b/1161/5950769e82b57dbd20410e178b176802.jpg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92BDC51-4154-F136-2900-E8321D6DDA90}"/>
              </a:ext>
            </a:extLst>
          </p:cNvPr>
          <p:cNvSpPr/>
          <p:nvPr/>
        </p:nvSpPr>
        <p:spPr>
          <a:xfrm>
            <a:off x="5388604" y="457200"/>
            <a:ext cx="3521890" cy="36576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0"/>
            <a:ext cx="64008" cy="5143500"/>
          </a:xfrm>
          <a:prstGeom prst="rect">
            <a:avLst/>
          </a:prstGeom>
          <a:solidFill>
            <a:srgbClr val="A8DDD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457200"/>
            <a:ext cx="3291840" cy="36576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D3B38"/>
                </a:solidFill>
                <a:latin typeface="Aptos ExtraBold" panose="020B0004020202020204" pitchFamily="34" charset="0"/>
              </a:rPr>
              <a:t>ПРИРОДНИ БЕДСТВИЯ И РИСКОВЕ</a:t>
            </a:r>
            <a:endParaRPr lang="en-US" sz="950" b="1" dirty="0">
              <a:latin typeface="Aptos ExtraBold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Наводнението</a:t>
            </a:r>
            <a:endParaRPr lang="en-US" sz="5000" dirty="0">
              <a:latin typeface="Aptos" panose="020B0004020202020204" pitchFamily="34" charset="0"/>
            </a:endParaRPr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в </a:t>
            </a:r>
            <a:r>
              <a:rPr lang="en-US" sz="5000" b="1" dirty="0" err="1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село</a:t>
            </a:r>
            <a:r>
              <a:rPr lang="en-US" sz="50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Бисер</a:t>
            </a:r>
            <a:endParaRPr lang="en-US" sz="50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8DDD5"/>
                </a:solidFill>
                <a:latin typeface="Aptos" panose="020B0004020202020204" pitchFamily="34" charset="0"/>
              </a:rPr>
              <a:t>6 февруари 2012 г.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2286000" cy="36576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8DDD5"/>
                </a:solidFill>
              </a:rPr>
              <a:t>Причини  •  Последици  •  Уроци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DD5"/>
                </a:solidFill>
                <a:latin typeface="Aptos" panose="020B0004020202020204" pitchFamily="34" charset="0"/>
              </a:rPr>
              <a:t>с. Бисер, община Харманли, Хасковска област  |  България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64BAB23-C2C7-9FF7-77D6-A54892743894}"/>
              </a:ext>
            </a:extLst>
          </p:cNvPr>
          <p:cNvSpPr/>
          <p:nvPr/>
        </p:nvSpPr>
        <p:spPr>
          <a:xfrm>
            <a:off x="5388604" y="457200"/>
            <a:ext cx="3521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bg-BG" sz="950" b="1" kern="0" spc="200" dirty="0">
                <a:solidFill>
                  <a:srgbClr val="0D3B38"/>
                </a:solidFill>
                <a:latin typeface="Aptos ExtraBold" panose="020B0004020202020204" pitchFamily="34" charset="0"/>
              </a:rPr>
              <a:t>ИЗГОТВИЛ: НИКОЛЕТА АНГЕЛОВА </a:t>
            </a:r>
            <a:r>
              <a:rPr lang="en-US" sz="950" b="1" kern="0" spc="200" dirty="0">
                <a:solidFill>
                  <a:srgbClr val="0D3B38"/>
                </a:solidFill>
                <a:latin typeface="Aptos ExtraBold" panose="020B0004020202020204" pitchFamily="34" charset="0"/>
              </a:rPr>
              <a:t>F122674</a:t>
            </a:r>
            <a:endParaRPr lang="en-US" sz="950" b="1" dirty="0">
              <a:latin typeface="Aptos ExtraBold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6">
            <a:extLst>
              <a:ext uri="{FF2B5EF4-FFF2-40B4-BE49-F238E27FC236}">
                <a16:creationId xmlns:a16="http://schemas.microsoft.com/office/drawing/2014/main" id="{B22D0058-501F-0D48-CC42-F1C9A01E0889}"/>
              </a:ext>
            </a:extLst>
          </p:cNvPr>
          <p:cNvSpPr/>
          <p:nvPr/>
        </p:nvSpPr>
        <p:spPr>
          <a:xfrm>
            <a:off x="6089904" y="2231929"/>
            <a:ext cx="2651760" cy="132439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b="1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75572963-8596-C772-445C-02837BFCAD85}"/>
              </a:ext>
            </a:extLst>
          </p:cNvPr>
          <p:cNvSpPr/>
          <p:nvPr/>
        </p:nvSpPr>
        <p:spPr>
          <a:xfrm>
            <a:off x="3248506" y="2231929"/>
            <a:ext cx="2651760" cy="132439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CDEE77C0-033F-D456-57FF-EF94D95BBD53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Какво е наводнение?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1051560"/>
          </a:xfrm>
          <a:prstGeom prst="rect">
            <a:avLst/>
          </a:prstGeom>
          <a:solidFill>
            <a:srgbClr val="D6EEF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09728" cy="105156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804672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E2C"/>
                </a:solidFill>
                <a:latin typeface="Aptos" panose="020B0004020202020204" pitchFamily="34" charset="0"/>
              </a:rPr>
              <a:t>Наводнението е природно бедствие, при което вода покрива суша - обикновено населена или земеделска. Може да бъде причинено от проливни дъждове, топене на сняг, разрушаване на язовири или </a:t>
            </a:r>
            <a:r>
              <a:rPr lang="en-US" sz="1400" dirty="0" err="1">
                <a:solidFill>
                  <a:srgbClr val="1A2E2C"/>
                </a:solidFill>
                <a:latin typeface="Aptos" panose="020B0004020202020204" pitchFamily="34" charset="0"/>
              </a:rPr>
              <a:t>морски</a:t>
            </a:r>
            <a:r>
              <a:rPr lang="en-US" sz="1400" dirty="0">
                <a:solidFill>
                  <a:srgbClr val="1A2E2C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rgbClr val="1A2E2C"/>
                </a:solidFill>
                <a:latin typeface="Aptos" panose="020B0004020202020204" pitchFamily="34" charset="0"/>
              </a:rPr>
              <a:t>прибой</a:t>
            </a:r>
            <a:r>
              <a:rPr lang="bg-BG" sz="1400" dirty="0">
                <a:solidFill>
                  <a:srgbClr val="1A2E2C"/>
                </a:solidFill>
                <a:latin typeface="Aptos" panose="020B0004020202020204" pitchFamily="34" charset="0"/>
              </a:rPr>
              <a:t>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02336" y="2245746"/>
            <a:ext cx="2651760" cy="132439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5578" y="2180148"/>
            <a:ext cx="2651760" cy="45720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176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</a:rPr>
              <a:t>Речни наводнения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1208" y="2245746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Реките излизат от коритата при интензивни валежи или топене на сняг</a:t>
            </a:r>
          </a:p>
        </p:txBody>
      </p:sp>
      <p:sp>
        <p:nvSpPr>
          <p:cNvPr id="13" name="Shape 11"/>
          <p:cNvSpPr/>
          <p:nvPr/>
        </p:nvSpPr>
        <p:spPr>
          <a:xfrm>
            <a:off x="3248506" y="2171799"/>
            <a:ext cx="2651760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64408" y="2159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</a:rPr>
              <a:t>Язовирен пробив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70582" y="3268977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0392B"/>
                </a:solidFill>
              </a:rPr>
              <a:t>← СЛУЧАЯТ С БИСЕР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2163848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Скъсване на язовирна 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стена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bg-BG" sz="13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 водата се излива мигновено и с голяма сила</a:t>
            </a:r>
          </a:p>
        </p:txBody>
      </p:sp>
      <p:sp>
        <p:nvSpPr>
          <p:cNvPr id="18" name="Shape 16"/>
          <p:cNvSpPr/>
          <p:nvPr/>
        </p:nvSpPr>
        <p:spPr>
          <a:xfrm>
            <a:off x="6080760" y="2171799"/>
            <a:ext cx="2651760" cy="457200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26480" y="2159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</a:rPr>
              <a:t>Крайбрежни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36208" y="2231929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Морски бури и цунами заливат ниско разположени брегови ивици</a:t>
            </a: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C5D81F10-5486-0387-C20B-A35A8D48A900}"/>
              </a:ext>
            </a:extLst>
          </p:cNvPr>
          <p:cNvSpPr/>
          <p:nvPr/>
        </p:nvSpPr>
        <p:spPr>
          <a:xfrm>
            <a:off x="1583898" y="3685923"/>
            <a:ext cx="2651760" cy="132439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7A823F96-BFBC-C553-9BE8-C3E161559987}"/>
              </a:ext>
            </a:extLst>
          </p:cNvPr>
          <p:cNvSpPr/>
          <p:nvPr/>
        </p:nvSpPr>
        <p:spPr>
          <a:xfrm>
            <a:off x="1577140" y="3620325"/>
            <a:ext cx="2651760" cy="4572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B26085B9-4445-50DC-B3AD-DBD65AF9B6FA}"/>
              </a:ext>
            </a:extLst>
          </p:cNvPr>
          <p:cNvSpPr/>
          <p:nvPr/>
        </p:nvSpPr>
        <p:spPr>
          <a:xfrm>
            <a:off x="1593042" y="3616449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latin typeface="Aptos" panose="020B0004020202020204" pitchFamily="34" charset="0"/>
              </a:rPr>
              <a:t>Мълниеносни</a:t>
            </a:r>
            <a:r>
              <a:rPr lang="en-US" sz="1300" b="1" dirty="0">
                <a:solidFill>
                  <a:schemeClr val="bg1"/>
                </a:solidFill>
                <a:latin typeface="Aptos" panose="020B0004020202020204" pitchFamily="34" charset="0"/>
              </a:rPr>
              <a:t> (flash floods)</a:t>
            </a:r>
            <a:endParaRPr lang="en-US" sz="13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CA3946AA-DD26-91A0-CE11-584D51E6BBA2}"/>
              </a:ext>
            </a:extLst>
          </p:cNvPr>
          <p:cNvSpPr/>
          <p:nvPr/>
        </p:nvSpPr>
        <p:spPr>
          <a:xfrm>
            <a:off x="1702770" y="3685923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bg-BG" sz="14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В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незапни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с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огромна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разрушителна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сила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трудно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предвидими</a:t>
            </a:r>
            <a:endParaRPr lang="en-US" sz="13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E8DE3542-FC87-41E7-819C-48AB3E93AD3B}"/>
              </a:ext>
            </a:extLst>
          </p:cNvPr>
          <p:cNvSpPr/>
          <p:nvPr/>
        </p:nvSpPr>
        <p:spPr>
          <a:xfrm>
            <a:off x="4705581" y="3682047"/>
            <a:ext cx="2651760" cy="132439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0DDB520-9DFE-A59B-C662-01ACC3D2D57F}"/>
              </a:ext>
            </a:extLst>
          </p:cNvPr>
          <p:cNvSpPr/>
          <p:nvPr/>
        </p:nvSpPr>
        <p:spPr>
          <a:xfrm>
            <a:off x="4698823" y="3616449"/>
            <a:ext cx="265176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03B1FE68-4380-21F3-4D3E-E2F8158DF8B3}"/>
              </a:ext>
            </a:extLst>
          </p:cNvPr>
          <p:cNvSpPr/>
          <p:nvPr/>
        </p:nvSpPr>
        <p:spPr>
          <a:xfrm>
            <a:off x="4714725" y="3612573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latin typeface="Aptos" panose="020B0004020202020204" pitchFamily="34" charset="0"/>
              </a:rPr>
              <a:t>Градски</a:t>
            </a:r>
            <a:r>
              <a:rPr lang="en-US" sz="1200" dirty="0"/>
              <a:t> </a:t>
            </a:r>
            <a:endParaRPr lang="en-US" sz="13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B7637CF5-F8FC-9B21-4208-C22EF8B25349}"/>
              </a:ext>
            </a:extLst>
          </p:cNvPr>
          <p:cNvSpPr/>
          <p:nvPr/>
        </p:nvSpPr>
        <p:spPr>
          <a:xfrm>
            <a:off x="4824453" y="3682047"/>
            <a:ext cx="24323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bg-BG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К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анализацията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не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поема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водата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при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силни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дъждове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в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урбанизирани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райони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1DD67-8EDA-8796-1103-A9A8AFDC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">
            <a:extLst>
              <a:ext uri="{FF2B5EF4-FFF2-40B4-BE49-F238E27FC236}">
                <a16:creationId xmlns:a16="http://schemas.microsoft.com/office/drawing/2014/main" id="{C12A2BE5-2660-7CBF-AE0F-1B3AD14F1EE5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AE88370-F23F-9326-3537-826E268159A1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0173BF-C042-AF62-C99F-99CA88E755D8}"/>
              </a:ext>
            </a:extLst>
          </p:cNvPr>
          <p:cNvSpPr/>
          <p:nvPr/>
        </p:nvSpPr>
        <p:spPr>
          <a:xfrm>
            <a:off x="411480" y="18288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bg-BG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Въздействие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46C3699-93AB-0B0B-0F9C-454CB71F484A}"/>
              </a:ext>
            </a:extLst>
          </p:cNvPr>
          <p:cNvSpPr/>
          <p:nvPr/>
        </p:nvSpPr>
        <p:spPr>
          <a:xfrm>
            <a:off x="411480" y="1005840"/>
            <a:ext cx="8321040" cy="1051560"/>
          </a:xfrm>
          <a:prstGeom prst="rect">
            <a:avLst/>
          </a:prstGeom>
          <a:solidFill>
            <a:srgbClr val="D6EEF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B9FF0CC-AF74-5C23-92BA-5AF20F29E6D1}"/>
              </a:ext>
            </a:extLst>
          </p:cNvPr>
          <p:cNvSpPr/>
          <p:nvPr/>
        </p:nvSpPr>
        <p:spPr>
          <a:xfrm>
            <a:off x="411480" y="1005840"/>
            <a:ext cx="109728" cy="105156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CD4FF1B-B66A-A01B-9ECA-0A0349B8EE94}"/>
              </a:ext>
            </a:extLst>
          </p:cNvPr>
          <p:cNvSpPr/>
          <p:nvPr/>
        </p:nvSpPr>
        <p:spPr>
          <a:xfrm>
            <a:off x="594360" y="1005840"/>
            <a:ext cx="804672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400" dirty="0">
                <a:latin typeface="Aptos" panose="020B0004020202020204" pitchFamily="34" charset="0"/>
              </a:rPr>
              <a:t>Наводненията </a:t>
            </a:r>
            <a:r>
              <a:rPr lang="en-US" sz="1400" dirty="0" err="1">
                <a:latin typeface="Aptos" panose="020B0004020202020204" pitchFamily="34" charset="0"/>
              </a:rPr>
              <a:t>са</a:t>
            </a:r>
            <a:r>
              <a:rPr lang="en-US" sz="1400" dirty="0">
                <a:latin typeface="Aptos" panose="020B0004020202020204" pitchFamily="34" charset="0"/>
              </a:rPr>
              <a:t> едно </a:t>
            </a:r>
            <a:r>
              <a:rPr lang="en-US" sz="1400" dirty="0" err="1">
                <a:latin typeface="Aptos" panose="020B0004020202020204" pitchFamily="34" charset="0"/>
              </a:rPr>
              <a:t>от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най-разпространените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и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разрушителни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природни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бедствия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в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света</a:t>
            </a:r>
            <a:r>
              <a:rPr lang="en-US" sz="1400" dirty="0">
                <a:latin typeface="Aptos" panose="020B0004020202020204" pitchFamily="34" charset="0"/>
              </a:rPr>
              <a:t>. </a:t>
            </a:r>
            <a:r>
              <a:rPr lang="en-US" sz="1400" dirty="0" err="1">
                <a:latin typeface="Aptos" panose="020B0004020202020204" pitchFamily="34" charset="0"/>
              </a:rPr>
              <a:t>Те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причиняват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човешки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жертви</a:t>
            </a:r>
            <a:r>
              <a:rPr lang="en-US" sz="1400" dirty="0">
                <a:latin typeface="Aptos" panose="020B0004020202020204" pitchFamily="34" charset="0"/>
              </a:rPr>
              <a:t>, </a:t>
            </a:r>
            <a:r>
              <a:rPr lang="en-US" sz="1400" dirty="0" err="1">
                <a:latin typeface="Aptos" panose="020B0004020202020204" pitchFamily="34" charset="0"/>
              </a:rPr>
              <a:t>унищожават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домове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и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реколта</a:t>
            </a:r>
            <a:r>
              <a:rPr lang="en-US" sz="1400" dirty="0">
                <a:latin typeface="Aptos" panose="020B0004020202020204" pitchFamily="34" charset="0"/>
              </a:rPr>
              <a:t>, </a:t>
            </a:r>
            <a:r>
              <a:rPr lang="en-US" sz="1400" dirty="0" err="1">
                <a:latin typeface="Aptos" panose="020B0004020202020204" pitchFamily="34" charset="0"/>
              </a:rPr>
              <a:t>замърсяват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питейната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вода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и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водят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до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епидемии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и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икономически</a:t>
            </a: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загуби</a:t>
            </a:r>
            <a:r>
              <a:rPr lang="en-US" sz="1400" dirty="0">
                <a:latin typeface="Aptos" panose="020B0004020202020204" pitchFamily="34" charset="0"/>
              </a:rPr>
              <a:t>.</a:t>
            </a:r>
          </a:p>
        </p:txBody>
      </p:sp>
      <p:pic>
        <p:nvPicPr>
          <p:cNvPr id="3074" name="Picture 2" descr="14 души загинаха при наводнения в Босна (СНИМКИ) - По света и у нас - БНТ  Новини">
            <a:extLst>
              <a:ext uri="{FF2B5EF4-FFF2-40B4-BE49-F238E27FC236}">
                <a16:creationId xmlns:a16="http://schemas.microsoft.com/office/drawing/2014/main" id="{4FC0BFC5-243E-5B2C-5BA2-CE305AAB8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60" y="2425975"/>
            <a:ext cx="3372595" cy="224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Унищожителни наводнения в Германия (Снимки) - По света и у нас - БНТ Новини">
            <a:extLst>
              <a:ext uri="{FF2B5EF4-FFF2-40B4-BE49-F238E27FC236}">
                <a16:creationId xmlns:a16="http://schemas.microsoft.com/office/drawing/2014/main" id="{3C1E3F8D-A8CA-2DF2-FF37-BFEAAD179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8"/>
          <a:stretch>
            <a:fillRect/>
          </a:stretch>
        </p:blipFill>
        <p:spPr bwMode="auto">
          <a:xfrm>
            <a:off x="5111446" y="2425976"/>
            <a:ext cx="3444157" cy="224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Над 30% от площите със слънчоглед, ечемик и рози са увредени от дъждовете -  Село.БГ - Агро новини, селски туризъм и имоти в селата">
            <a:extLst>
              <a:ext uri="{FF2B5EF4-FFF2-40B4-BE49-F238E27FC236}">
                <a16:creationId xmlns:a16="http://schemas.microsoft.com/office/drawing/2014/main" id="{E83E753D-B557-1ACD-DAE8-AEBDD5CD8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00" y="346911"/>
            <a:ext cx="6868612" cy="458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94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Хронология на бедствието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DD5"/>
                </a:solidFill>
                <a:latin typeface="Aptos" panose="020B0004020202020204" pitchFamily="34" charset="0"/>
              </a:rPr>
              <a:t>6 февруари 2012 г. </a:t>
            </a:r>
            <a:r>
              <a:rPr lang="bg-BG" sz="1200" dirty="0">
                <a:solidFill>
                  <a:srgbClr val="A8DDD5"/>
                </a:solidFill>
                <a:latin typeface="Aptos" panose="020B0004020202020204" pitchFamily="34" charset="0"/>
              </a:rPr>
              <a:t>-</a:t>
            </a:r>
            <a:r>
              <a:rPr lang="en-US" sz="1200" dirty="0">
                <a:solidFill>
                  <a:srgbClr val="A8DDD5"/>
                </a:solidFill>
                <a:latin typeface="Aptos" panose="020B0004020202020204" pitchFamily="34" charset="0"/>
              </a:rPr>
              <a:t> с. Бисер, община Харманли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920240" y="1325880"/>
            <a:ext cx="0" cy="3474720"/>
          </a:xfrm>
          <a:prstGeom prst="line">
            <a:avLst/>
          </a:prstGeom>
          <a:noFill/>
          <a:ln w="25400">
            <a:solidFill>
              <a:srgbClr val="2BAD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10512" y="1408176"/>
            <a:ext cx="219456" cy="219456"/>
          </a:xfrm>
          <a:prstGeom prst="ellipse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8DDD5"/>
                </a:solidFill>
                <a:latin typeface="Aptos" panose="020B0004020202020204" pitchFamily="34" charset="0"/>
              </a:rPr>
              <a:t>Нощта на 5/6 февруари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94560" y="1325880"/>
            <a:ext cx="6492240" cy="68580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04288" y="1325880"/>
            <a:ext cx="63093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Проливни дъждове в </a:t>
            </a:r>
            <a:r>
              <a:rPr lang="en-US" sz="1300" dirty="0" err="1">
                <a:solidFill>
                  <a:srgbClr val="FFFFFF"/>
                </a:solidFill>
                <a:latin typeface="Aptos" panose="020B0004020202020204" pitchFamily="34" charset="0"/>
              </a:rPr>
              <a:t>района</a:t>
            </a: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bg-BG" sz="1300" dirty="0">
                <a:solidFill>
                  <a:srgbClr val="FFFFFF"/>
                </a:solidFill>
                <a:latin typeface="Aptos" panose="020B0004020202020204" pitchFamily="34" charset="0"/>
              </a:rPr>
              <a:t>-</a:t>
            </a: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 водата в язовир "Иваново" се покачва критично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10512" y="2258568"/>
            <a:ext cx="219456" cy="219456"/>
          </a:xfrm>
          <a:prstGeom prst="ellipse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22199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8DDD5"/>
                </a:solidFill>
                <a:latin typeface="Aptos" panose="020B0004020202020204" pitchFamily="34" charset="0"/>
              </a:rPr>
              <a:t>~08:00 ч.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94560" y="2176272"/>
            <a:ext cx="6492240" cy="68580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04288" y="2176272"/>
            <a:ext cx="63093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Стената на язовира се </a:t>
            </a:r>
            <a:r>
              <a:rPr lang="en-US" sz="1300" dirty="0" err="1">
                <a:solidFill>
                  <a:srgbClr val="FFFFFF"/>
                </a:solidFill>
                <a:latin typeface="Aptos" panose="020B0004020202020204" pitchFamily="34" charset="0"/>
              </a:rPr>
              <a:t>пропуква</a:t>
            </a: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bg-BG" sz="1300" dirty="0">
                <a:solidFill>
                  <a:srgbClr val="FFFFFF"/>
                </a:solidFill>
                <a:latin typeface="Aptos" panose="020B0004020202020204" pitchFamily="34" charset="0"/>
              </a:rPr>
              <a:t>-</a:t>
            </a: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 3-метрова вълна тръгва по река Бисерска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810512" y="3108960"/>
            <a:ext cx="219456" cy="219456"/>
          </a:xfrm>
          <a:prstGeom prst="ellipse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0723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8DDD5"/>
                </a:solidFill>
                <a:latin typeface="Aptos" panose="020B0004020202020204" pitchFamily="34" charset="0"/>
              </a:rPr>
              <a:t>Минути по-късно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194560" y="3026664"/>
            <a:ext cx="6492240" cy="68580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04288" y="3026664"/>
            <a:ext cx="63093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Вълната залива с. Бисер (~10 км надолу) </a:t>
            </a:r>
            <a:r>
              <a:rPr lang="bg-BG" sz="1300" dirty="0">
                <a:solidFill>
                  <a:srgbClr val="FFFFFF"/>
                </a:solidFill>
                <a:latin typeface="Aptos" panose="020B0004020202020204" pitchFamily="34" charset="0"/>
              </a:rPr>
              <a:t>-</a:t>
            </a: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 едноетажните домове са напълно под вода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810512" y="3959352"/>
            <a:ext cx="219456" cy="219456"/>
          </a:xfrm>
          <a:prstGeom prst="ellipse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9227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8DDD5"/>
                </a:solidFill>
                <a:latin typeface="Aptos" panose="020B0004020202020204" pitchFamily="34" charset="0"/>
              </a:rPr>
              <a:t>Същата сутрин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194560" y="3877056"/>
            <a:ext cx="6492240" cy="68580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04288" y="3877056"/>
            <a:ext cx="63093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Армейски хеликоптери от авиобаза "Крумово" извършват спасителни операции</a:t>
            </a:r>
            <a:endParaRPr lang="en-US" sz="13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Причини за наводнението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640080" cy="1737360"/>
          </a:xfrm>
          <a:prstGeom prst="rect">
            <a:avLst/>
          </a:prstGeom>
          <a:solidFill>
            <a:srgbClr val="C13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640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C"/>
                </a:solidFill>
                <a:latin typeface="Aptos" panose="020B0004020202020204" pitchFamily="34" charset="0"/>
              </a:rPr>
              <a:t>Природни валежи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360"/>
                </a:solidFill>
                <a:latin typeface="Aptos" panose="020B0004020202020204" pitchFamily="34" charset="0"/>
              </a:rPr>
              <a:t>Интензивни дъждове </a:t>
            </a:r>
            <a:r>
              <a:rPr lang="en-US" sz="1250" dirty="0" err="1">
                <a:solidFill>
                  <a:srgbClr val="4A6360"/>
                </a:solidFill>
                <a:latin typeface="Aptos" panose="020B0004020202020204" pitchFamily="34" charset="0"/>
              </a:rPr>
              <a:t>на</a:t>
            </a:r>
            <a:r>
              <a:rPr lang="en-US" sz="1250" dirty="0">
                <a:solidFill>
                  <a:srgbClr val="4A6360"/>
                </a:solidFill>
                <a:latin typeface="Aptos" panose="020B0004020202020204" pitchFamily="34" charset="0"/>
              </a:rPr>
              <a:t> 5</a:t>
            </a:r>
            <a:r>
              <a:rPr lang="bg-BG" sz="1250" dirty="0">
                <a:solidFill>
                  <a:srgbClr val="4A6360"/>
                </a:solidFill>
                <a:latin typeface="Aptos" panose="020B0004020202020204" pitchFamily="34" charset="0"/>
              </a:rPr>
              <a:t>-</a:t>
            </a:r>
            <a:r>
              <a:rPr lang="en-US" sz="1250" dirty="0">
                <a:solidFill>
                  <a:srgbClr val="4A6360"/>
                </a:solidFill>
                <a:latin typeface="Aptos" panose="020B0004020202020204" pitchFamily="34" charset="0"/>
              </a:rPr>
              <a:t>6 февруари 2012 г. покачват нивото на водата в язовира до критична точка.</a:t>
            </a:r>
            <a:endParaRPr lang="en-US" sz="125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640080" cy="1737360"/>
          </a:xfrm>
          <a:prstGeom prst="rect">
            <a:avLst/>
          </a:prstGeom>
          <a:solidFill>
            <a:srgbClr val="C13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640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1430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C"/>
                </a:solidFill>
                <a:latin typeface="Aptos" panose="020B0004020202020204" pitchFamily="34" charset="0"/>
              </a:rPr>
              <a:t>Лошо техническо състояние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77840" y="155448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360"/>
                </a:solidFill>
                <a:latin typeface="Aptos" panose="020B0004020202020204" pitchFamily="34" charset="0"/>
              </a:rPr>
              <a:t>Пукнатини по стената на яз. "Иваново" са установени още от 2006 г., но не са отстранени.</a:t>
            </a:r>
            <a:endParaRPr lang="en-US" sz="125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640080" cy="1737360"/>
          </a:xfrm>
          <a:prstGeom prst="rect">
            <a:avLst/>
          </a:prstGeom>
          <a:solidFill>
            <a:srgbClr val="C13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640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C"/>
                </a:solidFill>
                <a:latin typeface="Aptos" panose="020B0004020202020204" pitchFamily="34" charset="0"/>
              </a:rPr>
              <a:t>Неизяснена собственост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356616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360"/>
                </a:solidFill>
                <a:latin typeface="Aptos" panose="020B0004020202020204" pitchFamily="34" charset="0"/>
              </a:rPr>
              <a:t>От 2003 г. тече спор между МО, Община Харманли и областната </a:t>
            </a:r>
            <a:r>
              <a:rPr lang="en-US" sz="1250" dirty="0" err="1">
                <a:solidFill>
                  <a:srgbClr val="4A6360"/>
                </a:solidFill>
                <a:latin typeface="Aptos" panose="020B0004020202020204" pitchFamily="34" charset="0"/>
              </a:rPr>
              <a:t>администрация</a:t>
            </a:r>
            <a:r>
              <a:rPr lang="en-US" sz="1250" dirty="0">
                <a:solidFill>
                  <a:srgbClr val="4A6360"/>
                </a:solidFill>
                <a:latin typeface="Aptos" panose="020B0004020202020204" pitchFamily="34" charset="0"/>
              </a:rPr>
              <a:t> </a:t>
            </a:r>
            <a:r>
              <a:rPr lang="bg-BG" sz="1250" dirty="0">
                <a:solidFill>
                  <a:srgbClr val="4A6360"/>
                </a:solidFill>
                <a:latin typeface="Aptos" panose="020B0004020202020204" pitchFamily="34" charset="0"/>
              </a:rPr>
              <a:t>-</a:t>
            </a:r>
            <a:r>
              <a:rPr lang="en-US" sz="1250" dirty="0">
                <a:solidFill>
                  <a:srgbClr val="4A6360"/>
                </a:solidFill>
                <a:latin typeface="Aptos" panose="020B0004020202020204" pitchFamily="34" charset="0"/>
              </a:rPr>
              <a:t> кой отговаря за язовира.</a:t>
            </a:r>
            <a:endParaRPr lang="en-US" sz="125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640080" cy="1737360"/>
          </a:xfrm>
          <a:prstGeom prst="rect">
            <a:avLst/>
          </a:prstGeom>
          <a:solidFill>
            <a:srgbClr val="C13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017520"/>
            <a:ext cx="640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154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C"/>
                </a:solidFill>
                <a:latin typeface="Aptos" panose="020B0004020202020204" pitchFamily="34" charset="0"/>
              </a:rPr>
              <a:t>Липса на превенция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360"/>
                </a:solidFill>
                <a:latin typeface="Aptos" panose="020B0004020202020204" pitchFamily="34" charset="0"/>
              </a:rPr>
              <a:t>Не са предприети укрепителни мерки и не е организирана навременна евакуация на жителите.</a:t>
            </a:r>
            <a:endParaRPr lang="en-US" sz="12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5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3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Мащаб на бедствието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1920240" cy="3291840"/>
          </a:xfrm>
          <a:prstGeom prst="rect">
            <a:avLst/>
          </a:prstGeom>
          <a:solidFill>
            <a:srgbClr val="0D3B3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920240" cy="12801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</a:rPr>
              <a:t>Загинали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DD5"/>
                </a:solidFill>
                <a:latin typeface="Aptos" panose="020B0004020202020204" pitchFamily="34" charset="0"/>
              </a:rPr>
              <a:t>10 удавени, 1 от инфаркт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87752" y="1005840"/>
            <a:ext cx="1920240" cy="3291840"/>
          </a:xfrm>
          <a:prstGeom prst="rect">
            <a:avLst/>
          </a:prstGeom>
          <a:solidFill>
            <a:srgbClr val="0D3B3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87752" y="1005840"/>
            <a:ext cx="1920240" cy="128016"/>
          </a:xfrm>
          <a:prstGeom prst="rect">
            <a:avLst/>
          </a:prstGeom>
          <a:solidFill>
            <a:srgbClr val="E07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87752" y="1188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7B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587752" y="2194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</a:rPr>
              <a:t>Унищожени</a:t>
            </a:r>
            <a:endParaRPr lang="en-US" sz="13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</a:rPr>
              <a:t>къщи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87752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DD5"/>
                </a:solidFill>
              </a:rPr>
              <a:t>за секунди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64024" y="1005840"/>
            <a:ext cx="1920240" cy="3291840"/>
          </a:xfrm>
          <a:prstGeom prst="rect">
            <a:avLst/>
          </a:prstGeom>
          <a:solidFill>
            <a:srgbClr val="0D3B3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64024" y="1005840"/>
            <a:ext cx="1920240" cy="128016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64024" y="1188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64024" y="2194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</a:rPr>
              <a:t>Наводнени</a:t>
            </a:r>
            <a:endParaRPr lang="en-US" sz="13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Aptos" panose="020B0004020202020204" pitchFamily="34" charset="0"/>
              </a:rPr>
              <a:t>дом</a:t>
            </a:r>
            <a:r>
              <a:rPr lang="bg-BG" sz="1300" b="1">
                <a:solidFill>
                  <a:srgbClr val="FFFFFF"/>
                </a:solidFill>
                <a:latin typeface="Aptos" panose="020B0004020202020204" pitchFamily="34" charset="0"/>
              </a:rPr>
              <a:t>а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64024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DD5"/>
                </a:solidFill>
              </a:rPr>
              <a:t>в с. Бисер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0296" y="1005840"/>
            <a:ext cx="1920240" cy="3291840"/>
          </a:xfrm>
          <a:prstGeom prst="rect">
            <a:avLst/>
          </a:prstGeom>
          <a:solidFill>
            <a:srgbClr val="0D3B3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40296" y="1005840"/>
            <a:ext cx="1920240" cy="128016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0296" y="1188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A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млн.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0296" y="2194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</a:rPr>
              <a:t>Лева дарения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40296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DD5"/>
                </a:solidFill>
              </a:rPr>
              <a:t>от цяла България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ptos" panose="020B0004020202020204" pitchFamily="34" charset="0"/>
              </a:rPr>
              <a:t>34 нови къщи построени до края на 2012 г.  •  Обезщетения над 4 млн. лв., присъдени от съда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5C5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419F4-4042-B0A4-C306-EAF830E6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FBA58C-B622-0426-E859-807174B8C34E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53E13AA-8DF8-CF1D-7227-540904BB121E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3B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1FE530-A08E-8DAE-574F-D29E8C58CBAE}"/>
              </a:ext>
            </a:extLst>
          </p:cNvPr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Мащаб на бедствието</a:t>
            </a:r>
            <a:endParaRPr lang="en-US" sz="2800" dirty="0">
              <a:latin typeface="Aptos" panose="020B0004020202020204" pitchFamily="34" charset="0"/>
            </a:endParaRPr>
          </a:p>
        </p:txBody>
      </p:sp>
      <p:pic>
        <p:nvPicPr>
          <p:cNvPr id="1026" name="Picture 2" descr="10 години от наводнението в Бисер: Все още няма виновен за трагедията">
            <a:extLst>
              <a:ext uri="{FF2B5EF4-FFF2-40B4-BE49-F238E27FC236}">
                <a16:creationId xmlns:a16="http://schemas.microsoft.com/office/drawing/2014/main" id="{7B0635F2-67BB-94FE-D72B-91299DE2F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02" y="1828796"/>
            <a:ext cx="4093975" cy="214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Пет години след трагедията в Бисер обвиняем е бившият областен управител">
            <a:extLst>
              <a:ext uri="{FF2B5EF4-FFF2-40B4-BE49-F238E27FC236}">
                <a16:creationId xmlns:a16="http://schemas.microsoft.com/office/drawing/2014/main" id="{8163DA3B-0000-2380-36BA-4FA4C2A09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859" y="1828796"/>
            <a:ext cx="3896139" cy="214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Три години от опустошителното наводнение в Бисер - ТопПреса">
            <a:extLst>
              <a:ext uri="{FF2B5EF4-FFF2-40B4-BE49-F238E27FC236}">
                <a16:creationId xmlns:a16="http://schemas.microsoft.com/office/drawing/2014/main" id="{150FE821-7CBD-3748-3508-3B148BF13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306" y="1079230"/>
            <a:ext cx="4864622" cy="364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39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Последици от наводнението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931920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ptos" panose="020B0004020202020204" pitchFamily="34" charset="0"/>
              </a:rPr>
              <a:t>ЧОВЕШКИ ЗАГУБИ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435608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49040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11 загинали (6 от с. Бисер)</a:t>
            </a:r>
            <a:endParaRPr lang="en-US" sz="1300" dirty="0">
              <a:latin typeface="Aptos" panose="020B0004020202020204" pitchFamily="34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Стотици евакуирани жители</a:t>
            </a:r>
            <a:endParaRPr lang="en-US" sz="1300" dirty="0">
              <a:latin typeface="Aptos" panose="020B0004020202020204" pitchFamily="34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Хора се спасяват по покривите на залетите домове</a:t>
            </a:r>
            <a:endParaRPr lang="en-US" sz="1300" dirty="0">
              <a:latin typeface="Aptos" panose="020B0004020202020204" pitchFamily="34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Стотици удавени домашни животни</a:t>
            </a:r>
            <a:endParaRPr lang="en-US" sz="1300" dirty="0">
              <a:latin typeface="Aptos" panose="020B0004020202020204" pitchFamily="34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Дългосрочна психологическа травма за цялата общност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3931920" cy="475488"/>
          </a:xfrm>
          <a:prstGeom prst="rect">
            <a:avLst/>
          </a:prstGeom>
          <a:solidFill>
            <a:srgbClr val="C4382B">
              <a:alpha val="8117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9601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ptos" panose="020B0004020202020204" pitchFamily="34" charset="0"/>
              </a:rPr>
              <a:t>МАТЕРИАЛНИ ЩЕТИ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0" y="1435608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749040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50+ напълно унищожени къщи</a:t>
            </a:r>
            <a:endParaRPr lang="en-US" sz="1300" dirty="0">
              <a:latin typeface="Aptos" panose="020B0004020202020204" pitchFamily="34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100+ наводнени домове</a:t>
            </a:r>
            <a:endParaRPr lang="en-US" sz="1300" dirty="0">
              <a:latin typeface="Aptos" panose="020B0004020202020204" pitchFamily="34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Разрушена инфраструктура в цялото село</a:t>
            </a:r>
            <a:endParaRPr lang="en-US" sz="1300" dirty="0">
              <a:latin typeface="Aptos" panose="020B0004020202020204" pitchFamily="34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Земеделски и стопански загуби</a:t>
            </a:r>
            <a:endParaRPr lang="en-US" sz="1300" dirty="0">
              <a:latin typeface="Aptos" panose="020B0004020202020204" pitchFamily="34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1A2E2C"/>
                </a:solidFill>
                <a:latin typeface="Aptos" panose="020B0004020202020204" pitchFamily="34" charset="0"/>
              </a:rPr>
              <a:t>Обезлюдяване</a:t>
            </a: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 </a:t>
            </a:r>
            <a:r>
              <a:rPr lang="bg-BG" sz="1300" dirty="0">
                <a:solidFill>
                  <a:srgbClr val="1A2E2C"/>
                </a:solidFill>
                <a:latin typeface="Aptos" panose="020B0004020202020204" pitchFamily="34" charset="0"/>
              </a:rPr>
              <a:t>- </a:t>
            </a:r>
            <a:r>
              <a:rPr lang="en-US" sz="1300" dirty="0" err="1">
                <a:solidFill>
                  <a:srgbClr val="1A2E2C"/>
                </a:solidFill>
                <a:latin typeface="Aptos" panose="020B0004020202020204" pitchFamily="34" charset="0"/>
              </a:rPr>
              <a:t>много</a:t>
            </a:r>
            <a:r>
              <a:rPr lang="en-US" sz="1300" dirty="0">
                <a:solidFill>
                  <a:srgbClr val="1A2E2C"/>
                </a:solidFill>
                <a:latin typeface="Aptos" panose="020B0004020202020204" pitchFamily="34" charset="0"/>
              </a:rPr>
              <a:t> семейства не се завърнаха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4315968"/>
            <a:ext cx="8321040" cy="594360"/>
          </a:xfrm>
          <a:prstGeom prst="rect">
            <a:avLst/>
          </a:prstGeom>
          <a:solidFill>
            <a:srgbClr val="D6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4315968"/>
            <a:ext cx="109728" cy="59436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4315968"/>
            <a:ext cx="8046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2C"/>
                </a:solidFill>
                <a:latin typeface="Aptos" panose="020B0004020202020204" pitchFamily="34" charset="0"/>
              </a:rPr>
              <a:t>Правна последица: Воден е съдебен процес срещу бившия областен управител на Хасково за причиняване на наводнение по непредпазливост. Към днешна </a:t>
            </a:r>
            <a:r>
              <a:rPr lang="en-US" sz="1150" dirty="0" err="1">
                <a:solidFill>
                  <a:srgbClr val="1A2E2C"/>
                </a:solidFill>
                <a:latin typeface="Aptos" panose="020B0004020202020204" pitchFamily="34" charset="0"/>
              </a:rPr>
              <a:t>дата</a:t>
            </a:r>
            <a:r>
              <a:rPr lang="en-US" sz="1150" dirty="0">
                <a:solidFill>
                  <a:srgbClr val="1A2E2C"/>
                </a:solidFill>
                <a:latin typeface="Aptos" panose="020B0004020202020204" pitchFamily="34" charset="0"/>
              </a:rPr>
              <a:t> </a:t>
            </a:r>
            <a:r>
              <a:rPr lang="bg-BG" sz="1150" dirty="0">
                <a:solidFill>
                  <a:srgbClr val="1A2E2C"/>
                </a:solidFill>
                <a:latin typeface="Aptos" panose="020B0004020202020204" pitchFamily="34" charset="0"/>
              </a:rPr>
              <a:t>-</a:t>
            </a:r>
            <a:r>
              <a:rPr lang="en-US" sz="1150" dirty="0">
                <a:solidFill>
                  <a:srgbClr val="1A2E2C"/>
                </a:solidFill>
                <a:latin typeface="Aptos" panose="020B0004020202020204" pitchFamily="34" charset="0"/>
              </a:rPr>
              <a:t> без влязла в сила присъда.</a:t>
            </a:r>
            <a:endParaRPr lang="en-US" sz="11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Личен спомен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8DDD5"/>
                </a:solidFill>
              </a:rPr>
              <a:t>Гледна точка на жител на Харманли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2BAD9A"/>
                </a:solidFill>
              </a:rPr>
              <a:t>“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5897880" cy="2514600"/>
          </a:xfrm>
          <a:prstGeom prst="rect">
            <a:avLst/>
          </a:prstGeom>
          <a:solidFill>
            <a:srgbClr val="0F5C5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5577840" cy="23317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</a:rPr>
              <a:t>Живея в Харманли и помня добре онази февруарска сутрин. Новината се разпространи мигновено из целия </a:t>
            </a:r>
            <a:r>
              <a:rPr lang="en-US" sz="1400" i="1" dirty="0" err="1">
                <a:solidFill>
                  <a:srgbClr val="FFFFFF"/>
                </a:solidFill>
              </a:rPr>
              <a:t>град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bg-BG" sz="1400" i="1" dirty="0">
                <a:solidFill>
                  <a:srgbClr val="FFFFFF"/>
                </a:solidFill>
              </a:rPr>
              <a:t>-</a:t>
            </a:r>
            <a:r>
              <a:rPr lang="en-US" sz="1400" i="1" dirty="0">
                <a:solidFill>
                  <a:srgbClr val="FFFFFF"/>
                </a:solidFill>
              </a:rPr>
              <a:t> хората бяха в шок, защото Бисер е само на няколко километра. Организираха се доброволци, събираха се дрехи и храна. Усещането беше, че цялата общност е засегната. Тази трагедия ме накара да осъзная колко бързо природата може да промени всичко.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Харманли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DDD5"/>
                </a:solidFill>
              </a:rPr>
              <a:t>~15 км от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DDD5"/>
                </a:solidFill>
              </a:rPr>
              <a:t>с. Бисер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3017520"/>
            <a:ext cx="1737360" cy="36576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3154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DDD5"/>
                </a:solidFill>
              </a:rPr>
              <a:t>Хората в района чуха и почувстваха трагедията от много близо.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5897880" cy="594360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114800"/>
            <a:ext cx="571500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A8DDD5"/>
                </a:solidFill>
              </a:rPr>
              <a:t>Лично </a:t>
            </a:r>
            <a:r>
              <a:rPr lang="en-US" sz="1100" i="1" dirty="0" err="1">
                <a:solidFill>
                  <a:srgbClr val="A8DDD5"/>
                </a:solidFill>
              </a:rPr>
              <a:t>преживяване</a:t>
            </a:r>
            <a:r>
              <a:rPr lang="en-US" sz="1100" i="1" dirty="0">
                <a:solidFill>
                  <a:srgbClr val="A8DDD5"/>
                </a:solidFill>
              </a:rPr>
              <a:t> </a:t>
            </a:r>
            <a:r>
              <a:rPr lang="bg-BG" sz="1100" i="1" dirty="0">
                <a:solidFill>
                  <a:srgbClr val="A8DDD5"/>
                </a:solidFill>
              </a:rPr>
              <a:t>-</a:t>
            </a:r>
            <a:r>
              <a:rPr lang="en-US" sz="1100" i="1" dirty="0">
                <a:solidFill>
                  <a:srgbClr val="A8DDD5"/>
                </a:solidFill>
              </a:rPr>
              <a:t> жител на Харманли по времето на наводнението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Уроци и превенция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685800" cy="173736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C"/>
                </a:solidFill>
                <a:latin typeface="Aptos" panose="020B0004020202020204" pitchFamily="34" charset="0"/>
              </a:rPr>
              <a:t>Редовен мониторинг на язовири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1700784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360"/>
                </a:solidFill>
                <a:latin typeface="Aptos" panose="020B0004020202020204" pitchFamily="34" charset="0"/>
              </a:rPr>
              <a:t>Пукнатините от 2006 г. не са отстранени. Задължителни периодични проверки на хидротехническите съоръжения.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685800" cy="1737360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23560" y="11430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C"/>
                </a:solidFill>
                <a:latin typeface="Aptos" panose="020B0004020202020204" pitchFamily="34" charset="0"/>
              </a:rPr>
              <a:t>Ясно разпределение на отговорностите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23560" y="1700784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360"/>
                </a:solidFill>
              </a:rPr>
              <a:t>9-годишен спор за собствеността на яз. "Иваново" забавя всякакви мерки. Законовата рамка трябва да е еднозначна.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685800" cy="173736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1546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C"/>
                </a:solidFill>
                <a:latin typeface="Aptos" panose="020B0004020202020204" pitchFamily="34" charset="0"/>
              </a:rPr>
              <a:t>Системи за ранно предупреждение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88720" y="3707296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360"/>
                </a:solidFill>
                <a:latin typeface="Aptos" panose="020B0004020202020204" pitchFamily="34" charset="0"/>
              </a:rPr>
              <a:t>Навременен сигнал би позволил евакуация. Съвременни сензори и SMS-системи могат да предотвратят жертви.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685800" cy="1737360"/>
          </a:xfrm>
          <a:prstGeom prst="rect">
            <a:avLst/>
          </a:prstGeom>
          <a:solidFill>
            <a:srgbClr val="E07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017520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23560" y="31546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C"/>
                </a:solidFill>
                <a:latin typeface="Aptos" panose="020B0004020202020204" pitchFamily="34" charset="0"/>
              </a:rPr>
              <a:t>Планове за гражданска защита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23560" y="363474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360"/>
                </a:solidFill>
                <a:latin typeface="Aptos" panose="020B0004020202020204" pitchFamily="34" charset="0"/>
              </a:rPr>
              <a:t>Всяка община трябва да има актуален и известен на жителите план за действие при природни бедствия.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Заключение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7132320" cy="658368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69494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💧  Наводнението в с. Бисер е трагичен пример за съчетание между природна стихия и институционална безотговорност.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7132320" cy="658368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69494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⚠️  Пукнатини по язовирната стена са известни 6 години преди </a:t>
            </a:r>
            <a:r>
              <a:rPr lang="en-US" sz="1300" dirty="0" err="1">
                <a:solidFill>
                  <a:srgbClr val="FFFFFF"/>
                </a:solidFill>
              </a:rPr>
              <a:t>бедствието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bg-BG" sz="1300" dirty="0">
                <a:solidFill>
                  <a:srgbClr val="FFFFFF"/>
                </a:solidFill>
              </a:rPr>
              <a:t>-</a:t>
            </a:r>
            <a:r>
              <a:rPr lang="en-US" sz="1300" dirty="0">
                <a:solidFill>
                  <a:srgbClr val="FFFFFF"/>
                </a:solidFill>
              </a:rPr>
              <a:t> без да се предприемат мерки.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578608"/>
            <a:ext cx="7132320" cy="658368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69494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🏛️  11 жертви, стотици пострадали, милиони </a:t>
            </a:r>
            <a:r>
              <a:rPr lang="en-US" sz="1300" dirty="0" err="1">
                <a:solidFill>
                  <a:srgbClr val="FFFFFF"/>
                </a:solidFill>
              </a:rPr>
              <a:t>щети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bg-BG" sz="1300" dirty="0">
                <a:solidFill>
                  <a:srgbClr val="FFFFFF"/>
                </a:solidFill>
              </a:rPr>
              <a:t>-</a:t>
            </a:r>
            <a:r>
              <a:rPr lang="en-US" sz="1300" dirty="0">
                <a:solidFill>
                  <a:srgbClr val="FFFFFF"/>
                </a:solidFill>
              </a:rPr>
              <a:t> последиците са трайни за цялата общност.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374136"/>
            <a:ext cx="7132320" cy="658368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374136"/>
            <a:ext cx="69494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📋  Превенцията е ключова: мониторинг, ясна отговорност, системи за предупреждение и планове за евакуация.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4169664"/>
            <a:ext cx="7132320" cy="658368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169664"/>
            <a:ext cx="69494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</a:rPr>
              <a:t>🤝  Солидарността на България (над 3 млн. лв. дарения) показва силата на гражданската взаимопомощ.</a:t>
            </a:r>
            <a:endParaRPr lang="en-US" sz="13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Използвани източници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09728" cy="384048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E2C"/>
                </a:solidFill>
                <a:hlinkClick r:id="rId3"/>
              </a:rPr>
              <a:t>[1] Уикипедия — "Наводнение на село Бисер". bg.wikipedia.org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109728" cy="384048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E2C"/>
                </a:solidFill>
                <a:hlinkClick r:id="rId4"/>
              </a:rPr>
              <a:t>[2] БНТ Новини — "9 години след наводнението в село Бисер". bntnews.bg, 2021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112264"/>
            <a:ext cx="109728" cy="384048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11226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E2C"/>
                </a:solidFill>
                <a:hlinkClick r:id="rId5"/>
              </a:rPr>
              <a:t>[3] bTV Новините — "10 г. след потопа в с. Бисер: Има ли възмездие?". btvnovinite.bg, 2022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688336"/>
            <a:ext cx="109728" cy="384048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68833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E2C"/>
                </a:solidFill>
                <a:hlinkClick r:id="rId6"/>
              </a:rPr>
              <a:t>[4] Новини СЕГА — "Трагичните наводнения в Бисер и Цар Колоян си останаха ненаказани". segabg.com, 2022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3264408"/>
            <a:ext cx="109728" cy="384048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26440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E2C"/>
                </a:solidFill>
                <a:hlinkClick r:id="rId7"/>
              </a:rPr>
              <a:t>[5] Информационен център на МО — "11 години от опустошителното наводнение в с. Бисер". armymedia.bg, 2023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3840480"/>
            <a:ext cx="109728" cy="384048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E2C"/>
                </a:solidFill>
                <a:hlinkClick r:id="rId8"/>
              </a:rPr>
              <a:t>[6] Dir.bg — "Поглед от Бисер: 10 години след потопа". dnes.dir.bg, 2022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4416552"/>
            <a:ext cx="109728" cy="384048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4165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2E2C"/>
                </a:solidFill>
                <a:hlinkClick r:id="rId9"/>
              </a:rPr>
              <a:t>[7] </a:t>
            </a:r>
            <a:r>
              <a:rPr lang="en-US" sz="1250" dirty="0" err="1">
                <a:solidFill>
                  <a:srgbClr val="1A2E2C"/>
                </a:solidFill>
                <a:hlinkClick r:id="rId9"/>
              </a:rPr>
              <a:t>Harmanli.bg</a:t>
            </a:r>
            <a:r>
              <a:rPr lang="en-US" sz="1250" dirty="0">
                <a:solidFill>
                  <a:srgbClr val="1A2E2C"/>
                </a:solidFill>
                <a:hlinkClick r:id="rId9"/>
              </a:rPr>
              <a:t> — "</a:t>
            </a:r>
            <a:r>
              <a:rPr lang="en-US" sz="1100" cap="all" dirty="0">
                <a:hlinkClick r:id="rId9"/>
              </a:rPr>
              <a:t>СЕЛО БИСЕР ОТБЕЛЯЗА 11 ГОДИНИ ОТ ОПУСТОШИТЕЛНОТО НАВОДНЕНИЕ</a:t>
            </a:r>
            <a:r>
              <a:rPr lang="en-US" sz="1250" dirty="0">
                <a:solidFill>
                  <a:srgbClr val="1A2E2C"/>
                </a:solidFill>
                <a:hlinkClick r:id="rId9"/>
              </a:rPr>
              <a:t>". </a:t>
            </a:r>
            <a:r>
              <a:rPr lang="en-US" sz="1250" dirty="0" err="1">
                <a:solidFill>
                  <a:srgbClr val="1A2E2C"/>
                </a:solidFill>
                <a:hlinkClick r:id="rId9"/>
              </a:rPr>
              <a:t>harmanli.bg</a:t>
            </a:r>
            <a:r>
              <a:rPr lang="en-US" sz="1250" dirty="0">
                <a:solidFill>
                  <a:srgbClr val="1A2E2C"/>
                </a:solidFill>
                <a:hlinkClick r:id="rId9"/>
              </a:rPr>
              <a:t>, 2023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8983BF-3911-2D93-A38A-F830242D2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446965-BC80-40B8-E4BF-52F0FC5A31C9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16DBF4-E92A-381D-2679-40FBF43E8D7D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7EB23F-F897-A156-5316-B673BE0DBADA}"/>
              </a:ext>
            </a:extLst>
          </p:cNvPr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Използвани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източници</a:t>
            </a:r>
            <a:r>
              <a:rPr lang="bg-BG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(снимки)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BF2E87-ED14-DD06-093C-E73065041E5D}"/>
              </a:ext>
            </a:extLst>
          </p:cNvPr>
          <p:cNvSpPr/>
          <p:nvPr/>
        </p:nvSpPr>
        <p:spPr>
          <a:xfrm>
            <a:off x="603504" y="1870842"/>
            <a:ext cx="8138160" cy="1004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2E2C"/>
                </a:solidFill>
              </a:rPr>
              <a:t>[</a:t>
            </a:r>
            <a:r>
              <a:rPr lang="bg-BG" sz="1250" dirty="0">
                <a:solidFill>
                  <a:srgbClr val="1A2E2C"/>
                </a:solidFill>
              </a:rPr>
              <a:t>3</a:t>
            </a:r>
            <a:r>
              <a:rPr lang="en-US" sz="1250" dirty="0">
                <a:solidFill>
                  <a:srgbClr val="1A2E2C"/>
                </a:solidFill>
              </a:rPr>
              <a:t>] </a:t>
            </a:r>
            <a:r>
              <a:rPr lang="en-US" sz="1250" dirty="0">
                <a:solidFill>
                  <a:srgbClr val="1A2E2C"/>
                </a:solidFill>
                <a:hlinkClick r:id="rId3"/>
              </a:rPr>
              <a:t>https://bntnews.bg/f/news/b/1295/02c72746d6f9eb498cfa4d71b956947f.jpeg</a:t>
            </a:r>
            <a:endParaRPr lang="bg-BG" sz="1250" dirty="0">
              <a:solidFill>
                <a:srgbClr val="1A2E2C"/>
              </a:solidFill>
            </a:endParaRPr>
          </a:p>
          <a:p>
            <a:r>
              <a:rPr lang="bg-BG" sz="1250" dirty="0"/>
              <a:t>      </a:t>
            </a:r>
            <a:r>
              <a:rPr lang="en-US" sz="1250" dirty="0">
                <a:hlinkClick r:id="rId4"/>
              </a:rPr>
              <a:t>https://bntnews.bg/f/news/b/1161/5950769e82b57dbd20410e178b176802.jpg</a:t>
            </a:r>
            <a:endParaRPr lang="bg-BG" sz="1250" dirty="0"/>
          </a:p>
          <a:p>
            <a:r>
              <a:rPr lang="bg-BG" sz="1250" dirty="0">
                <a:hlinkClick r:id="rId5"/>
              </a:rPr>
              <a:t>      </a:t>
            </a:r>
            <a:r>
              <a:rPr lang="en-US" sz="1250" dirty="0">
                <a:hlinkClick r:id="rId5"/>
              </a:rPr>
              <a:t>https://selo.bg/images/2/e9269c80b220032e83524b356ad17e3c/navodnenie-slievn-1057.jpg</a:t>
            </a:r>
            <a:endParaRPr lang="bg-BG" sz="1250" dirty="0"/>
          </a:p>
          <a:p>
            <a:endParaRPr lang="bg-BG" sz="1250" dirty="0"/>
          </a:p>
          <a:p>
            <a:endParaRPr lang="en-US" sz="1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CE5D9EA-12DF-175A-882E-F82711A6A6A9}"/>
              </a:ext>
            </a:extLst>
          </p:cNvPr>
          <p:cNvSpPr/>
          <p:nvPr/>
        </p:nvSpPr>
        <p:spPr>
          <a:xfrm>
            <a:off x="381662" y="2647112"/>
            <a:ext cx="109728" cy="4572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9B95271-E069-2A1A-64BB-58811F259E0E}"/>
              </a:ext>
            </a:extLst>
          </p:cNvPr>
          <p:cNvSpPr/>
          <p:nvPr/>
        </p:nvSpPr>
        <p:spPr>
          <a:xfrm>
            <a:off x="603504" y="264711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2E2C"/>
                </a:solidFill>
              </a:rPr>
              <a:t>[</a:t>
            </a:r>
            <a:r>
              <a:rPr lang="bg-BG" sz="1250" dirty="0">
                <a:solidFill>
                  <a:srgbClr val="1A2E2C"/>
                </a:solidFill>
              </a:rPr>
              <a:t>7</a:t>
            </a:r>
            <a:r>
              <a:rPr lang="en-US" sz="1250" dirty="0">
                <a:solidFill>
                  <a:srgbClr val="1A2E2C"/>
                </a:solidFill>
              </a:rPr>
              <a:t>] </a:t>
            </a:r>
            <a:r>
              <a:rPr lang="en-US" sz="1250" dirty="0">
                <a:solidFill>
                  <a:srgbClr val="1A2E2C"/>
                </a:solidFill>
                <a:hlinkClick r:id="rId6"/>
              </a:rPr>
              <a:t>https://cdn.btv.bg/media/images/1200x630/Feb2022/2112684307.jpg</a:t>
            </a:r>
            <a:endParaRPr lang="bg-BG" sz="1250" dirty="0">
              <a:solidFill>
                <a:srgbClr val="1A2E2C"/>
              </a:solidFill>
            </a:endParaRPr>
          </a:p>
          <a:p>
            <a:r>
              <a:rPr lang="bg-BG" sz="1250" dirty="0">
                <a:solidFill>
                  <a:srgbClr val="1A2E2C"/>
                </a:solidFill>
                <a:hlinkClick r:id="rId7"/>
              </a:rPr>
              <a:t>      </a:t>
            </a:r>
            <a:r>
              <a:rPr lang="en-US" sz="1250" dirty="0">
                <a:solidFill>
                  <a:srgbClr val="1A2E2C"/>
                </a:solidFill>
                <a:hlinkClick r:id="rId7"/>
              </a:rPr>
              <a:t>https://nws2.bnt.bg/p/b/i/biser-323978-810x0.jpg</a:t>
            </a:r>
            <a:r>
              <a:rPr lang="bg-BG" sz="1250" dirty="0">
                <a:solidFill>
                  <a:srgbClr val="1A2E2C"/>
                </a:solidFill>
              </a:rPr>
              <a:t>  </a:t>
            </a:r>
            <a:endParaRPr lang="en-US" sz="125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8DFC1997-1481-B4B7-6C92-108206E11A9C}"/>
              </a:ext>
            </a:extLst>
          </p:cNvPr>
          <p:cNvSpPr/>
          <p:nvPr/>
        </p:nvSpPr>
        <p:spPr>
          <a:xfrm>
            <a:off x="377687" y="1933980"/>
            <a:ext cx="109728" cy="4572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2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02222-802B-5F81-0588-6FE35841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85CF7C-E2C7-5663-CB9D-4F5E51F3C7CC}"/>
              </a:ext>
            </a:extLst>
          </p:cNvPr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E908BEB-8773-70AE-F872-6999EFAD518D}"/>
              </a:ext>
            </a:extLst>
          </p:cNvPr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F8EBEA-9081-122F-619F-A3E425070DE0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471ACCA-48FB-7D3F-87A6-1F6433F8B27A}"/>
              </a:ext>
            </a:extLst>
          </p:cNvPr>
          <p:cNvSpPr/>
          <p:nvPr/>
        </p:nvSpPr>
        <p:spPr>
          <a:xfrm>
            <a:off x="292608" y="0"/>
            <a:ext cx="64008" cy="5143500"/>
          </a:xfrm>
          <a:prstGeom prst="rect">
            <a:avLst/>
          </a:prstGeom>
          <a:solidFill>
            <a:srgbClr val="A8DDD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2CC2BF1-FA0B-DAEB-1F0D-712BE625F75B}"/>
              </a:ext>
            </a:extLst>
          </p:cNvPr>
          <p:cNvSpPr/>
          <p:nvPr/>
        </p:nvSpPr>
        <p:spPr>
          <a:xfrm>
            <a:off x="502920" y="457200"/>
            <a:ext cx="3291840" cy="365760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715E1D2-9CF0-882F-5E71-812AB20C4B4C}"/>
              </a:ext>
            </a:extLst>
          </p:cNvPr>
          <p:cNvSpPr/>
          <p:nvPr/>
        </p:nvSpPr>
        <p:spPr>
          <a:xfrm>
            <a:off x="502920" y="457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D3B38"/>
                </a:solidFill>
                <a:latin typeface="Aptos ExtraBold" panose="020B0004020202020204" pitchFamily="34" charset="0"/>
              </a:rPr>
              <a:t>ПРИРОДНИ БЕДСТВИЯ И РИСКОВЕ</a:t>
            </a:r>
            <a:endParaRPr lang="en-US" sz="950" b="1" dirty="0">
              <a:latin typeface="Aptos ExtraBold" panose="020B0004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558642-6B38-9145-D61F-D91252911AAB}"/>
              </a:ext>
            </a:extLst>
          </p:cNvPr>
          <p:cNvSpPr/>
          <p:nvPr/>
        </p:nvSpPr>
        <p:spPr>
          <a:xfrm>
            <a:off x="502920" y="100584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bg-BG" sz="5000" b="1" dirty="0">
                <a:solidFill>
                  <a:schemeClr val="bg1"/>
                </a:solidFill>
                <a:latin typeface="Aptos" panose="020B0004020202020204" pitchFamily="34" charset="0"/>
              </a:rPr>
              <a:t>Благодаря за вниманието!</a:t>
            </a:r>
            <a:endParaRPr lang="en-US" sz="5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7671FF8-F7B4-3DB5-8317-60BF133CE439}"/>
              </a:ext>
            </a:extLst>
          </p:cNvPr>
          <p:cNvSpPr/>
          <p:nvPr/>
        </p:nvSpPr>
        <p:spPr>
          <a:xfrm>
            <a:off x="629613" y="2826673"/>
            <a:ext cx="4069081" cy="70763"/>
          </a:xfrm>
          <a:prstGeom prst="rect">
            <a:avLst/>
          </a:prstGeom>
          <a:solidFill>
            <a:srgbClr val="2BAD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53E89F8-9548-C22B-D337-779BE9D3EC07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5C55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10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1056</Words>
  <Application>Microsoft Macintosh PowerPoint</Application>
  <PresentationFormat>On-screen Show (16:9)</PresentationFormat>
  <Paragraphs>134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ExtraBold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Наводнението в Бисер – 6 февруари 2012 г.</dc:title>
  <dc:subject>PptxGenJS Presentation</dc:subject>
  <dc:creator>PptxGenJS</dc:creator>
  <cp:lastModifiedBy>Nikoleta Angelova</cp:lastModifiedBy>
  <cp:revision>3</cp:revision>
  <dcterms:created xsi:type="dcterms:W3CDTF">2026-05-02T11:13:11Z</dcterms:created>
  <dcterms:modified xsi:type="dcterms:W3CDTF">2026-05-17T16:47:49Z</dcterms:modified>
</cp:coreProperties>
</file>